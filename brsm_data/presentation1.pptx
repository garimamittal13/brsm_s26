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731520"/>
            <a:ext cx="4114800" cy="4114800"/>
          </a:xfrm>
          <a:prstGeom prst="ellipse">
            <a:avLst/>
          </a:prstGeom>
          <a:solidFill>
            <a:srgbClr val="3EAAA0">
              <a:alpha val="12000"/>
            </a:srgbClr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-182880"/>
            <a:ext cx="2743200" cy="2743200"/>
          </a:xfrm>
          <a:prstGeom prst="ellipse">
            <a:avLst/>
          </a:prstGeom>
          <a:solidFill>
            <a:srgbClr val="3EAAA0">
              <a:alpha val="20000"/>
            </a:srgbClr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548640"/>
            <a:ext cx="6217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Boundaries &amp;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Memory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33472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event segmentation shapes encoding and discrimination in the Mnemonic Similarity Task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383280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3832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Both  (n = 51)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32888" y="3383280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33832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Item Only  (n = 56)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62856" y="3383280"/>
            <a:ext cx="1901952" cy="274320"/>
          </a:xfrm>
          <a:prstGeom prst="roundRect">
            <a:avLst>
              <a:gd name="adj" fmla="val 26667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3383280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Task Only  (n = 53)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0" y="4681728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BRSM 2026  ·  Replication &amp; Extension of Morse et al. (2023)  ·  N = 160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4160520"/>
          </a:xfrm>
          <a:prstGeom prst="rect">
            <a:avLst/>
          </a:prstGeom>
          <a:solidFill>
            <a:srgbClr val="0F1E33"/>
          </a:solidFill>
          <a:ln w="12700">
            <a:solidFill>
              <a:srgbClr val="0F1E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Event Segmentation?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94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experience life as one long stream — our brains slice it into discrete chunks called events.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context changes (new scene, new goal), the hippocampus detects an event boundary and updates its internal model of what's happening.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updating takes cognitive effort — and that effort can affect how well nearby items are remembered.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3794760" cy="777240"/>
          </a:xfrm>
          <a:prstGeom prst="rect">
            <a:avLst/>
          </a:prstGeom>
          <a:solidFill>
            <a:srgbClr val="1A2E45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3977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et al. (2023) showed boundary effects are directional: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Pre-boundary items → better discrimination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items → worse recognition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0" y="868680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MST?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26187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Mnemonic Similarity Task (MST) tests two distinct aspects of memory: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682496"/>
            <a:ext cx="4069080" cy="1078992"/>
          </a:xfrm>
          <a:prstGeom prst="rect">
            <a:avLst/>
          </a:prstGeom>
          <a:solidFill>
            <a:srgbClr val="EDF6F9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737360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— Basic Recognition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2029968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tell if you've seen this object before?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= P("old" | Target) − P("old" | Foil)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2834640"/>
            <a:ext cx="4069080" cy="1078992"/>
          </a:xfrm>
          <a:prstGeom prst="rect">
            <a:avLst/>
          </a:prstGeom>
          <a:solidFill>
            <a:srgbClr val="FFF8EE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889504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— Mnemonic Discrimination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3182112"/>
            <a:ext cx="3794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tell a similar lure from the original?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= P("similar" | Lure) − P("similar" | Foil)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977640"/>
            <a:ext cx="4069080" cy="6858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Lure bins 1–5: Bin 1 = nearly identical to original (hardest)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5 = clearly different (easiest to discriminate)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5001768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</a:rPr>
              <a:t>Zacks et al. (2007)  ·  Morse et al. (2023)  ·  Stark et al. (2013, 2019)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Design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2926080"/>
          </a:xfrm>
          <a:prstGeom prst="rect">
            <a:avLst/>
          </a:prstGeom>
          <a:solidFill>
            <a:srgbClr val="162538"/>
          </a:solidFill>
          <a:ln w="19050">
            <a:solidFill>
              <a:srgbClr val="D95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2743200" cy="475488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 (n = 51)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shift between objects &amp; scenes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block, AND the encoding question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each block.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871216"/>
            <a:ext cx="246888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077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type: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+ Task boundary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82112" y="804672"/>
            <a:ext cx="2743200" cy="2926080"/>
          </a:xfrm>
          <a:prstGeom prst="rect">
            <a:avLst/>
          </a:prstGeom>
          <a:solidFill>
            <a:srgbClr val="162538"/>
          </a:solidFill>
          <a:ln w="19050">
            <a:solidFill>
              <a:srgbClr val="3EAA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804672"/>
            <a:ext cx="2743200" cy="475488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8046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Only  (n = 56)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319272" y="1325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alternate between objects &amp;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scenes each block, but the encoding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stays the same throughout.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19272" y="2871216"/>
            <a:ext cx="246888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9077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type: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9272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boundary only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89904" y="804672"/>
            <a:ext cx="2743200" cy="2926080"/>
          </a:xfrm>
          <a:prstGeom prst="rect">
            <a:avLst/>
          </a:prstGeom>
          <a:solidFill>
            <a:srgbClr val="162538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9904" y="804672"/>
            <a:ext cx="2743200" cy="47548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9904" y="804672"/>
            <a:ext cx="2743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Only  (n = 53)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27064" y="13258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stay as scenes throughout,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encoding question changes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block.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7064" y="2871216"/>
            <a:ext cx="2468880" cy="658368"/>
          </a:xfrm>
          <a:prstGeom prst="rect">
            <a:avLst/>
          </a:prstGeom>
          <a:solidFill>
            <a:srgbClr val="0A1520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2907792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type: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27064" y="312724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boundary only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858768"/>
            <a:ext cx="8595360" cy="1024128"/>
          </a:xfrm>
          <a:prstGeom prst="rect">
            <a:avLst/>
          </a:prstGeom>
          <a:solidFill>
            <a:srgbClr val="0A1520"/>
          </a:solidFill>
          <a:ln w="6350">
            <a:solidFill>
              <a:srgbClr val="7A99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136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39044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events × 7 items each = 280 images  ·  3 sec per image  ·  Encoding question: "Does it fit in a shoebox?"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42245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phase: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08760" y="422452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targets (20 Pre / 20 Mid / 20 Post)  +  60 lures (20 Pre / 20 Mid / 20 Post)  +  30 foils  →  respond: Old / Similar / New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572000"/>
            <a:ext cx="8595360" cy="50292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5994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positions within each 7-item block: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4608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1880" y="46085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 — just after boundary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4608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MID: 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46085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2–6 — middle of event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40880" y="4608576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PRE: 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543800" y="46085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7 — just before boundary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257800" cy="1417320"/>
          </a:xfrm>
          <a:prstGeom prst="rect">
            <a:avLst/>
          </a:prstGeom>
          <a:solidFill>
            <a:srgbClr val="162538"/>
          </a:solidFill>
          <a:ln w="15240">
            <a:solidFill>
              <a:srgbClr val="D95F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86968"/>
            <a:ext cx="384048" cy="384048"/>
          </a:xfrm>
          <a:prstGeom prst="ellipse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86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96112" y="8686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event boundaries enhance or impair recognition memory?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289304"/>
            <a:ext cx="5001768" cy="18288"/>
          </a:xfrm>
          <a:prstGeom prst="rect">
            <a:avLst/>
          </a:prstGeom>
          <a:solidFill>
            <a:srgbClr val="D95F4B">
              <a:alpha val="40000"/>
            </a:srgbClr>
          </a:solidFill>
          <a:ln w="12700">
            <a:solidFill>
              <a:srgbClr val="D95F4B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44168"/>
            <a:ext cx="5001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impair it — slightly. Post-boundary items were recognised less well (REC = 0.597) than items from the middle or end of an event (~0.63).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0" y="777240"/>
            <a:ext cx="3154680" cy="1417320"/>
          </a:xfrm>
          <a:prstGeom prst="rect">
            <a:avLst/>
          </a:prstGeom>
          <a:solidFill>
            <a:srgbClr val="162538"/>
          </a:solidFill>
          <a:ln w="15240">
            <a:solidFill>
              <a:srgbClr val="E8A8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2160" y="886968"/>
            <a:ext cx="384048" cy="384048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8869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36792" y="8686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boundaries make it harder to tell similar objects apart?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852160" y="1289304"/>
            <a:ext cx="2898648" cy="18288"/>
          </a:xfrm>
          <a:prstGeom prst="rect">
            <a:avLst/>
          </a:prstGeom>
          <a:solidFill>
            <a:srgbClr val="E8A838">
              <a:alpha val="40000"/>
            </a:srgbClr>
          </a:solidFill>
          <a:ln w="12700">
            <a:solidFill>
              <a:srgbClr val="E8A83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0" y="1344168"/>
            <a:ext cx="2898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clearly in this study. Discrimination (LDI) was nearly identical across positions. Design differences from Morse et al. (2023) likely explain the null result.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377440"/>
            <a:ext cx="5257800" cy="1417320"/>
          </a:xfrm>
          <a:prstGeom prst="rect">
            <a:avLst/>
          </a:prstGeom>
          <a:solidFill>
            <a:srgbClr val="162538"/>
          </a:solidFill>
          <a:ln w="15240">
            <a:solidFill>
              <a:srgbClr val="3EAA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87168"/>
            <a:ext cx="384048" cy="384048"/>
          </a:xfrm>
          <a:prstGeom prst="ellipse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" y="2468880"/>
            <a:ext cx="4526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crossing a boundary take extra cognitive effort at encoding?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" y="2889504"/>
            <a:ext cx="5001768" cy="18288"/>
          </a:xfrm>
          <a:prstGeom prst="rect">
            <a:avLst/>
          </a:prstGeom>
          <a:solidFill>
            <a:srgbClr val="3EAAA0">
              <a:alpha val="40000"/>
            </a:srgbClr>
          </a:solidFill>
          <a:ln w="12700">
            <a:solidFill>
              <a:srgbClr val="3EAAA0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44368"/>
            <a:ext cx="500176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Participants were ~0.15s slower to respond to post-boundary items — but only when the boundary involved a task-shift. A perceptual shift alone was not enough.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15000" y="2377440"/>
            <a:ext cx="3154680" cy="1417320"/>
          </a:xfrm>
          <a:prstGeom prst="rect">
            <a:avLst/>
          </a:prstGeom>
          <a:solidFill>
            <a:srgbClr val="162538"/>
          </a:solidFill>
          <a:ln w="15240">
            <a:solidFill>
              <a:srgbClr val="52BF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52160" y="2487168"/>
            <a:ext cx="384048" cy="384048"/>
          </a:xfrm>
          <a:prstGeom prst="ellipse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4871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36792" y="24688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lure similarity determine how hard discrimination is?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852160" y="2889504"/>
            <a:ext cx="2898648" cy="18288"/>
          </a:xfrm>
          <a:prstGeom prst="rect">
            <a:avLst/>
          </a:prstGeom>
          <a:solidFill>
            <a:srgbClr val="52BFA0">
              <a:alpha val="40000"/>
            </a:srgbClr>
          </a:solidFill>
          <a:ln w="12700">
            <a:solidFill>
              <a:srgbClr val="52BFA0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944368"/>
            <a:ext cx="289864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robustly. LDI rose steadily from Bin 1 (lure nearly identical, LDI ≈ 0.20) to Bin 5 (lure clearly different, LDI ≈ 0.40) across all conditions and positions.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162538"/>
          </a:solidFill>
          <a:ln w="15240">
            <a:solidFill>
              <a:srgbClr val="8B6FD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4087368"/>
            <a:ext cx="384048" cy="384048"/>
          </a:xfrm>
          <a:prstGeom prst="ellipse">
            <a:avLst/>
          </a:prstGeom>
          <a:solidFill>
            <a:srgbClr val="8B6FD4"/>
          </a:solidFill>
          <a:ln w="12700">
            <a:solidFill>
              <a:srgbClr val="8B6F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873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96112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6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type of boundary (perceptual vs. task) matter?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1480" y="4379976"/>
            <a:ext cx="8339328" cy="18288"/>
          </a:xfrm>
          <a:prstGeom prst="rect">
            <a:avLst/>
          </a:prstGeom>
          <a:solidFill>
            <a:srgbClr val="8B6FD4">
              <a:alpha val="40000"/>
            </a:srgbClr>
          </a:solidFill>
          <a:ln w="12700">
            <a:solidFill>
              <a:srgbClr val="8B6FD4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4434840"/>
            <a:ext cx="83393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Task-shifts drove the RT cost at boundaries. Item-Only (perceptual shift only) showed flat RT and no REC decline — suggesting the task component is the critical ingredient.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Predicted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874520"/>
          </a:xfrm>
          <a:prstGeom prst="rect">
            <a:avLst/>
          </a:prstGeom>
          <a:solidFill>
            <a:srgbClr val="F8F9FA"/>
          </a:solidFill>
          <a:ln w="19050">
            <a:solidFill>
              <a:srgbClr val="3EAA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57200" cy="1874520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9144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boundaries slow down encoding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298448"/>
            <a:ext cx="35478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items should take longer to respond to — the brain must update its event model at each transition.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4672" y="2240280"/>
            <a:ext cx="3547872" cy="347472"/>
          </a:xfrm>
          <a:prstGeom prst="rect">
            <a:avLst/>
          </a:prstGeom>
          <a:solidFill>
            <a:srgbClr val="3EAAA0">
              <a:alpha val="12000"/>
            </a:srgbClr>
          </a:solidFill>
          <a:ln w="6350">
            <a:solidFill>
              <a:srgbClr val="3EAA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58568"/>
            <a:ext cx="3456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Post RT &gt; Pre = Mid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60520" cy="1874520"/>
          </a:xfrm>
          <a:prstGeom prst="rect">
            <a:avLst/>
          </a:prstGeom>
          <a:solidFill>
            <a:srgbClr val="F8F9FA"/>
          </a:solidFill>
          <a:ln w="19050">
            <a:solidFill>
              <a:srgbClr val="D95F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22960"/>
            <a:ext cx="457200" cy="1874520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22960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39512" y="914400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impair basic recognition memory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9512" y="1298448"/>
            <a:ext cx="35478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items may be recognised less well — cognitive resources spent on updating the event model leave less capacity for encoding item identity.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239512" y="2240280"/>
            <a:ext cx="3547872" cy="347472"/>
          </a:xfrm>
          <a:prstGeom prst="rect">
            <a:avLst/>
          </a:prstGeom>
          <a:solidFill>
            <a:srgbClr val="D95F4B">
              <a:alpha val="12000"/>
            </a:srgbClr>
          </a:solidFill>
          <a:ln w="6350">
            <a:solidFill>
              <a:srgbClr val="D95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258568"/>
            <a:ext cx="3456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Post REC &lt; Pre / Mid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52928"/>
            <a:ext cx="4160520" cy="1874520"/>
          </a:xfrm>
          <a:prstGeom prst="rect">
            <a:avLst/>
          </a:prstGeom>
          <a:solidFill>
            <a:srgbClr val="F8F9FA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52928"/>
            <a:ext cx="457200" cy="18745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52928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4672" y="294436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impair mnemonic discrimination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3328416"/>
            <a:ext cx="35478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lures should be harder to reject — fine-grained pattern separation requires attentional resources that are diverted at boundaries.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04672" y="4270248"/>
            <a:ext cx="3547872" cy="347472"/>
          </a:xfrm>
          <a:prstGeom prst="rect">
            <a:avLst/>
          </a:prstGeom>
          <a:solidFill>
            <a:srgbClr val="E8A838">
              <a:alpha val="12000"/>
            </a:srgbClr>
          </a:solidFill>
          <a:ln w="6350">
            <a:solidFill>
              <a:srgbClr val="E8A8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288536"/>
            <a:ext cx="3456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Post LDI &lt; Pre / Mid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852928"/>
            <a:ext cx="4160520" cy="1874520"/>
          </a:xfrm>
          <a:prstGeom prst="rect">
            <a:avLst/>
          </a:prstGeom>
          <a:solidFill>
            <a:srgbClr val="F8F9FA"/>
          </a:solidFill>
          <a:ln w="19050">
            <a:solidFill>
              <a:srgbClr val="52BF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852928"/>
            <a:ext cx="457200" cy="1874520"/>
          </a:xfrm>
          <a:prstGeom prst="rect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852928"/>
            <a:ext cx="45720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39512" y="2944368"/>
            <a:ext cx="35478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similar lures are harder to discriminate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239512" y="3328416"/>
            <a:ext cx="354787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should increase from Bin 1 (lure nearly identical to target) to Bin 5 (lure clearly different). This validates the graded difficulty structure of the MST.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39512" y="4270248"/>
            <a:ext cx="3547872" cy="347472"/>
          </a:xfrm>
          <a:prstGeom prst="rect">
            <a:avLst/>
          </a:prstGeom>
          <a:solidFill>
            <a:srgbClr val="52BFA0">
              <a:alpha val="12000"/>
            </a:srgbClr>
          </a:solidFill>
          <a:ln w="6350">
            <a:solidFill>
              <a:srgbClr val="52BF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4288536"/>
            <a:ext cx="345643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LDI: Bin 1 &lt; Bin 2 &lt; … &lt; Bin 5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tests: Repeated-measures ANOVA on encoding RT, REC, and LDI · Post-hoc pairwise t-tests with Holm–Bonferroni correction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Do event boundaries slow down responses during encoding?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49808"/>
            <a:ext cx="420624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7216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1. Mean encoding RT by event position (all participants)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749808"/>
            <a:ext cx="4206240" cy="2971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7216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2. Encoding RT broken down by condition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74320" y="4005072"/>
            <a:ext cx="8595360" cy="1051560"/>
          </a:xfrm>
          <a:prstGeom prst="rect">
            <a:avLst/>
          </a:prstGeom>
          <a:solidFill>
            <a:srgbClr val="0A152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11480" y="4059936"/>
            <a:ext cx="1280160" cy="274320"/>
          </a:xfrm>
          <a:prstGeom prst="roundRect">
            <a:avLst>
              <a:gd name="adj" fmla="val 26667"/>
            </a:avLst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11480" y="405993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✓  H1 SUPPORTED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11480" y="4370832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items were responded to ~0.15s slower than Pre and Mid items (2.03s vs ~1.87s).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617720" y="4059936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617720" y="405993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H5 INSIGHT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617720" y="4370832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RT slowing only appeared in Both and Task-Only — not in Item-Only.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tells us the task-shift component of the boundary drives the RT cost.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Seeing the boundary effect across the whole experiment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703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48056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13. Trial-by-trial encoding RT (averaged across all participants). Red dashed lines = event boundaries (every 7 trials). Blue curve = LOESS smoothed trend.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solidFill>
            <a:srgbClr val="F0F4F6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4718304"/>
            <a:ext cx="832104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notice:  The sharp rise after trial ~280 marks the condition transition (task-shift participants enter a new block type). In the first half, each event boundary triggers a small RT spike — the rhythmic pattern predicted by Event Segmentation Theory.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Check — Did the task work?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30352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43484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3. Response proportions (Old / Similar / New) for each item type.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806440" y="822960"/>
            <a:ext cx="3017520" cy="1143000"/>
          </a:xfrm>
          <a:prstGeom prst="rect">
            <a:avLst/>
          </a:prstGeom>
          <a:solidFill>
            <a:srgbClr val="F8F9FA"/>
          </a:solidFill>
          <a:ln w="15240">
            <a:solidFill>
              <a:srgbClr val="3EAAA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06440" y="822960"/>
            <a:ext cx="54864" cy="1143000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896112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→ mostly 'Old'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207008"/>
            <a:ext cx="2816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of the time participants correctly said 'Old' to items they had actually seen. The MST is working.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2084832"/>
            <a:ext cx="3017520" cy="1143000"/>
          </a:xfrm>
          <a:prstGeom prst="rect">
            <a:avLst/>
          </a:prstGeom>
          <a:solidFill>
            <a:srgbClr val="F8F9FA"/>
          </a:solidFill>
          <a:ln w="15240">
            <a:solidFill>
              <a:srgbClr val="52BF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806440" y="2084832"/>
            <a:ext cx="54864" cy="1143000"/>
          </a:xfrm>
          <a:prstGeom prst="rect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157984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Foils → mostly 'New'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943600" y="2468880"/>
            <a:ext cx="2816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correct rejection of completely new items. Participants were not just guessing.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3346704"/>
            <a:ext cx="3017520" cy="1143000"/>
          </a:xfrm>
          <a:prstGeom prst="rect">
            <a:avLst/>
          </a:prstGeom>
          <a:solidFill>
            <a:srgbClr val="F8F9FA"/>
          </a:solidFill>
          <a:ln w="15240">
            <a:solidFill>
              <a:srgbClr val="E8A83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06440" y="3346704"/>
            <a:ext cx="54864" cy="11430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43600" y="3419856"/>
            <a:ext cx="2816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Lures → mostly 'Similar'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3730752"/>
            <a:ext cx="281635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 'Similar' — participants recognised that lures resembled, but were not identical to, studied items. This is the key MST signal.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806440" y="4617720"/>
            <a:ext cx="3017520" cy="411480"/>
          </a:xfrm>
          <a:prstGeom prst="rect">
            <a:avLst/>
          </a:prstGeom>
          <a:solidFill>
            <a:srgbClr val="EDF6F9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97880" y="4636008"/>
            <a:ext cx="2852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Task functioning as designed — proceed to hypothesis testing.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Do boundaries affect how well items are recognised?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611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4. Recognition Memory Index (REC) by event position. REC = P(old|Target) − P(old|Foil).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32120" y="804672"/>
            <a:ext cx="3291840" cy="1463040"/>
          </a:xfrm>
          <a:prstGeom prst="rect">
            <a:avLst/>
          </a:prstGeom>
          <a:solidFill>
            <a:srgbClr val="162538"/>
          </a:solidFill>
          <a:ln w="6350">
            <a:solidFill>
              <a:srgbClr val="7A99B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859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1152144"/>
            <a:ext cx="3017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&gt; 0 means participants correctly recognised targets above chance.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REC bar = poorer memory for items at that position.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dashed line at 0 = chance performance.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32120" y="2377440"/>
            <a:ext cx="3291840" cy="2057400"/>
          </a:xfrm>
          <a:prstGeom prst="rect">
            <a:avLst/>
          </a:prstGeom>
          <a:solidFill>
            <a:srgbClr val="0A1520"/>
          </a:solidFill>
          <a:ln w="15240">
            <a:solidFill>
              <a:srgbClr val="D95F4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2441448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441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~  H2 PARTIALLY SUPPORTED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0" y="2779776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items showed lower REC (0.597) compared to Pre (0.628) and Mid (0.636).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is directionally consistent with Morse et al. (2023) — but modest in size.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right after an event boundary are slightly harder to recognise.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Do boundaries affect the ability to discriminate similar items?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029200" cy="3611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3891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6. Lure Discrimination Index (LDI) by event position. LDI = P(similar|Lure) − P(similar|Foil).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532120" y="804672"/>
            <a:ext cx="3291840" cy="1463040"/>
          </a:xfrm>
          <a:prstGeom prst="rect">
            <a:avLst/>
          </a:prstGeom>
          <a:solidFill>
            <a:srgbClr val="F8F9FA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859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669280" y="1152144"/>
            <a:ext cx="30175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&gt; 0 means participants correctly flagged lures as 'Similar' above chance.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lower LDI bar = worse discrimination between the original item and a similar copy.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reflects hippocampal pattern separation.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532120" y="2377440"/>
            <a:ext cx="3291840" cy="2057400"/>
          </a:xfrm>
          <a:prstGeom prst="rect">
            <a:avLst/>
          </a:prstGeom>
          <a:solidFill>
            <a:srgbClr val="FFF8EE"/>
          </a:solidFill>
          <a:ln w="15240">
            <a:solidFill>
              <a:srgbClr val="E8A83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69280" y="2441448"/>
            <a:ext cx="2194560" cy="274320"/>
          </a:xfrm>
          <a:prstGeom prst="roundRect">
            <a:avLst>
              <a:gd name="adj" fmla="val 26667"/>
            </a:avLst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0" y="2441448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✗  H3 NOT SUPPORTED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669280" y="2779776"/>
            <a:ext cx="3017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was nearly identical across Pre (0.333), Mid (0.337), and Post (0.331).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meaningful difference — boundaries did not impair or enhance discrimination ability.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reasons: our 3-response design and 7-item blocks differ from the original study.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— Are more similar lures harder to discriminate?</a:t>
            </a:r>
            <a:endParaRPr lang="en-US" sz="1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5852160" cy="3794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572000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8. LDI across lure similarity bins 1–5, by event position. Bin 1 = most similar (hardest). Bin 5 = least similar (easiest).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6309360" y="822960"/>
            <a:ext cx="2560320" cy="1170432"/>
          </a:xfrm>
          <a:prstGeom prst="rect">
            <a:avLst/>
          </a:prstGeom>
          <a:solidFill>
            <a:srgbClr val="162538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309360" y="822960"/>
            <a:ext cx="45720" cy="1170432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46520" y="896112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1 — Most Similar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46520" y="1225296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≈ 0.20 at Bin 1. The lure looks nearly identical to the target, so the hippocampus must work hard to separate the two memory traces.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9360" y="2121408"/>
            <a:ext cx="2560320" cy="1170432"/>
          </a:xfrm>
          <a:prstGeom prst="rect">
            <a:avLst/>
          </a:prstGeom>
          <a:solidFill>
            <a:srgbClr val="162538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2121408"/>
            <a:ext cx="45720" cy="1170432"/>
          </a:xfrm>
          <a:prstGeom prst="rect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194560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5 — Least Similar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46520" y="2523744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≈ 0.40 at Bin 5. When the lure is clearly different, discrimination is easier — the gradient holds across all event positions.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09360" y="3419856"/>
            <a:ext cx="2560320" cy="1170432"/>
          </a:xfrm>
          <a:prstGeom prst="rect">
            <a:avLst/>
          </a:prstGeom>
          <a:solidFill>
            <a:srgbClr val="162538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3419856"/>
            <a:ext cx="45720" cy="1170432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46520" y="3493008"/>
            <a:ext cx="2359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H4 Confirmed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46520" y="3822192"/>
            <a:ext cx="235915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increases consistently from Bin 1 to Bin 5 at every position. The graded difficulty structure of the MST is validated.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737360"/>
          </a:xfrm>
          <a:prstGeom prst="rect">
            <a:avLst/>
          </a:prstGeom>
          <a:solidFill>
            <a:srgbClr val="F4F6F8"/>
          </a:solidFill>
          <a:ln w="19050">
            <a:solidFill>
              <a:srgbClr val="52BF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57200" cy="1737360"/>
          </a:xfrm>
          <a:prstGeom prst="rect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896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52BFA0">
              <a:alpha val="18000"/>
            </a:srgbClr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896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boundaries do slow 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153619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encoding RT was reliably slower — but only when the boundary included a task-shift (Both &amp; Task-Only). Item-Only showed no effect, revealing the task component is key.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4F6F8"/>
          </a:solidFill>
          <a:ln w="19050">
            <a:solidFill>
              <a:srgbClr val="E8A8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04672"/>
            <a:ext cx="457200" cy="173736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04672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257800" y="89611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E8A838">
              <a:alpha val="18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89611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120700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modestly impair recognition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57800" y="153619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Post-boundary items had slightly lower REC (0.597 vs ~0.63). The pattern directionally replicates Morse et al. (2023) but is subtle, suggesting a real but small encoding cost.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679192"/>
            <a:ext cx="4160520" cy="1737360"/>
          </a:xfrm>
          <a:prstGeom prst="rect">
            <a:avLst/>
          </a:prstGeom>
          <a:solidFill>
            <a:srgbClr val="F4F6F8"/>
          </a:solidFill>
          <a:ln w="19050">
            <a:solidFill>
              <a:srgbClr val="D95F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679192"/>
            <a:ext cx="457200" cy="1737360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679192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" y="27706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D95F4B">
              <a:alpha val="18000"/>
            </a:srgbClr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770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Supported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" y="30815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boundary effect on discrimination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41071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was flat across all three positions. Design differences — 3-response test, 7-item blocks, shoebox question — may explain the failure to replicate Morse et al.'s LDI finding.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4F6F8"/>
          </a:solidFill>
          <a:ln w="19050">
            <a:solidFill>
              <a:srgbClr val="3EAA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2679192"/>
            <a:ext cx="457200" cy="1737360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679192"/>
            <a:ext cx="457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257800" y="2770632"/>
            <a:ext cx="1371600" cy="256032"/>
          </a:xfrm>
          <a:prstGeom prst="roundRect">
            <a:avLst>
              <a:gd name="adj" fmla="val 21429"/>
            </a:avLst>
          </a:prstGeom>
          <a:solidFill>
            <a:srgbClr val="3EAAA0">
              <a:alpha val="18000"/>
            </a:srgbClr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7706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57800" y="3081528"/>
            <a:ext cx="3520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gradient is robust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410712"/>
            <a:ext cx="3520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LDI increased monotonically Bin 1 → 5 in every condition and position. The graded structure of the MST is functioning as expected — harder lures are harder to discriminate.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et al. (2023)  ·  Zacks et al. (2007)  ·  Stark et al. (2013, 2019)  ·  Kirwan &amp; Stark (2007)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Directions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874520"/>
          </a:xfrm>
          <a:prstGeom prst="rect">
            <a:avLst/>
          </a:prstGeom>
          <a:solidFill>
            <a:srgbClr val="162538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50976"/>
            <a:ext cx="402336" cy="402336"/>
          </a:xfrm>
          <a:prstGeom prst="ellipse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A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with a 2-response test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Old / Similar / New test differs from Morse et al.'s Old / New design. Switching to 2-response may restore the LDI boundary effect by removing the 'Similar' option that participants relied on heavily.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22960"/>
            <a:ext cx="4160520" cy="1874520"/>
          </a:xfrm>
          <a:prstGeom prst="rect">
            <a:avLst/>
          </a:prstGeom>
          <a:solidFill>
            <a:srgbClr val="1625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50976"/>
            <a:ext cx="402336" cy="40233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9509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49240" y="95097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at finer lure-bin granularity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0328" y="141732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was confirmed but H3 was not. It's possible a boundary effect exists at Bin 1 only (hardest lures). An item-level analysis may reveal a position × bin interaction that aggregated data masks.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160520" cy="1874520"/>
          </a:xfrm>
          <a:prstGeom prst="rect">
            <a:avLst/>
          </a:prstGeom>
          <a:solidFill>
            <a:srgbClr val="162538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62656"/>
            <a:ext cx="402336" cy="402336"/>
          </a:xfrm>
          <a:prstGeom prst="ellipse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62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29626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block length to 10 items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 et al. used 10-item events; we used 7. With 7 items, 'Mid' collapses positions 2–6 — a coarser measure. Longer blocks give more statistical power to detect within-event gradients.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160520" cy="1874520"/>
          </a:xfrm>
          <a:prstGeom prst="rect">
            <a:avLst/>
          </a:prstGeom>
          <a:solidFill>
            <a:srgbClr val="162538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962656"/>
            <a:ext cx="402336" cy="402336"/>
          </a:xfrm>
          <a:prstGeom prst="ellipse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9626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49240" y="2962656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correlates with fMRI / EEG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10328" y="34290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8E8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encoding-phase RT spikes to hippocampal boundary responses. Are post-boundary RT costs correlated with boundary-triggered memory updating in CA1 or the entorhinal cortex?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solidFill>
            <a:srgbClr val="0A1520"/>
          </a:solidFill>
          <a:ln w="12700">
            <a:solidFill>
              <a:srgbClr val="0A15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919472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BRSM 2026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786384"/>
            <a:ext cx="54864" cy="274320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0624" y="76809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Baldassano, C., et al. (2017). Discovering event structure in continuous narrative perception and memory. Neuron, 95(3), 709–721.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54864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0624" y="118872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Ben-Yakov, A., &amp; Dudai, Y. (2011). Constructing realistic engrams: Poststimulus activity predicts subsequent episodic memory. J. Neuroscience, 31(24), 9032–9042.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627632"/>
            <a:ext cx="54864" cy="274320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160934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Ben-Yakov, A., &amp; Henson, R. N. (2018). The hippocampal film editor: Sensitivity and specificity to event boundaries in continuous experience. J. Neuroscience, 38(47), 10057–10068.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54864" cy="274320"/>
          </a:xfrm>
          <a:prstGeom prst="rect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02996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Kirwan, C. B., &amp; Stark, C. E. L. (2007). Overcoming interference: fMRI investigation of pattern separation in the medial temporal lobe. Learning &amp; Memory, 14(9), 625–633.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54864" cy="274320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45059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Morse, S. J., Karagoz, A. B., &amp; Reagh, Z. M. (2023). Event boundaries directionally influence item-level recognition memory. [Preprint]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54864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2871216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Radvansky, G. A., &amp; Zacks, J. M. (2014). Event Cognition. Oxford University Press.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10128"/>
            <a:ext cx="54864" cy="274320"/>
          </a:xfrm>
          <a:prstGeom prst="rect">
            <a:avLst/>
          </a:prstGeom>
          <a:solidFill>
            <a:srgbClr val="D95F4B"/>
          </a:solidFill>
          <a:ln w="12700">
            <a:solidFill>
              <a:srgbClr val="D95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2918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Stark, S. M., et al. (2013). A task to assess behavioral pattern separation (BPS) in humans: Data from healthy aging and mild cognitive impairment. Neuropsychologia, 51(12), 2442–2449.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730752"/>
            <a:ext cx="54864" cy="274320"/>
          </a:xfrm>
          <a:prstGeom prst="rect">
            <a:avLst/>
          </a:prstGeom>
          <a:solidFill>
            <a:srgbClr val="52BFA0"/>
          </a:solidFill>
          <a:ln w="12700">
            <a:solidFill>
              <a:srgbClr val="52B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3712464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Stark, S. M., Kirwan, C. B., &amp; Stark, C. E. L. (2019). Mnemonic similarity task: A tool for assessing hippocampal integrity. Trends in Cognitive Sciences, 23(11), 938–951.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151376"/>
            <a:ext cx="54864" cy="274320"/>
          </a:xfrm>
          <a:prstGeom prst="rect">
            <a:avLst/>
          </a:prstGeom>
          <a:solidFill>
            <a:srgbClr val="3EAAA0"/>
          </a:solidFill>
          <a:ln w="12700">
            <a:solidFill>
              <a:srgbClr val="3EAA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413308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Yassa, M. A., &amp; Stark, C. E. L. (2011). Pattern separation in the hippocampus. Trends in Neurosciences, 34(10), 515–525.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572000"/>
            <a:ext cx="54864" cy="2743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4553712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Zacks, J. M., et al. (2007). Event perception: A mind-brain perspective. Psychological Bulletin, 133(2), 273–293.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4320" y="499262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Stimuli: Stark Lab MST Image Sets  ·  starklab.bio.uci.edu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Boundaries &amp; Memory — BRSM 2026</dc:title>
  <dc:subject>PptxGenJS Presentation</dc:subject>
  <dc:creator>PptxGenJS</dc:creator>
  <cp:lastModifiedBy>PptxGenJS</cp:lastModifiedBy>
  <cp:revision>1</cp:revision>
  <dcterms:created xsi:type="dcterms:W3CDTF">2026-03-08T16:30:53Z</dcterms:created>
  <dcterms:modified xsi:type="dcterms:W3CDTF">2026-03-08T16:30:53Z</dcterms:modified>
</cp:coreProperties>
</file>